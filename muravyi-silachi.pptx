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097280"/>
            <a:ext cx="457200" cy="457200"/>
          </a:xfrm>
          <a:prstGeom prst="ellipse">
            <a:avLst/>
          </a:prstGeom>
          <a:solidFill>
            <a:srgbClr val="C69C6D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1280160"/>
            <a:ext cx="1005840" cy="548640"/>
          </a:xfrm>
          <a:prstGeom prst="ellipse">
            <a:avLst/>
          </a:prstGeom>
          <a:solidFill>
            <a:srgbClr val="C69C6D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1188720" cy="640080"/>
          </a:xfrm>
          <a:prstGeom prst="ellipse">
            <a:avLst/>
          </a:prstGeom>
          <a:solidFill>
            <a:srgbClr val="C69C6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274320" cy="0"/>
          </a:xfrm>
          <a:prstGeom prst="line">
            <a:avLst/>
          </a:prstGeom>
          <a:noFill/>
          <a:ln w="31750">
            <a:solidFill>
              <a:srgbClr val="C69C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320040" cy="320040"/>
          </a:xfrm>
          <a:prstGeom prst="line">
            <a:avLst/>
          </a:prstGeom>
          <a:noFill/>
          <a:ln w="31750">
            <a:solidFill>
              <a:srgbClr val="C69C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645920"/>
            <a:ext cx="274320" cy="0"/>
          </a:xfrm>
          <a:prstGeom prst="line">
            <a:avLst/>
          </a:prstGeom>
          <a:noFill/>
          <a:ln w="31750">
            <a:solidFill>
              <a:srgbClr val="C69C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783080"/>
            <a:ext cx="320040" cy="320040"/>
          </a:xfrm>
          <a:prstGeom prst="line">
            <a:avLst/>
          </a:prstGeom>
          <a:noFill/>
          <a:ln w="31750">
            <a:solidFill>
              <a:srgbClr val="C69C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65960"/>
            <a:ext cx="274320" cy="0"/>
          </a:xfrm>
          <a:prstGeom prst="line">
            <a:avLst/>
          </a:prstGeom>
          <a:noFill/>
          <a:ln w="31750">
            <a:solidFill>
              <a:srgbClr val="C69C6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03120"/>
            <a:ext cx="320040" cy="320040"/>
          </a:xfrm>
          <a:prstGeom prst="line">
            <a:avLst/>
          </a:prstGeom>
          <a:noFill/>
          <a:ln w="31750">
            <a:solidFill>
              <a:srgbClr val="C69C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965960"/>
            <a:ext cx="274320" cy="0"/>
          </a:xfrm>
          <a:prstGeom prst="line">
            <a:avLst/>
          </a:prstGeom>
          <a:noFill/>
          <a:ln w="31750">
            <a:solidFill>
              <a:srgbClr val="C69C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103120"/>
            <a:ext cx="320040" cy="320040"/>
          </a:xfrm>
          <a:prstGeom prst="line">
            <a:avLst/>
          </a:prstGeom>
          <a:noFill/>
          <a:ln w="31750">
            <a:solidFill>
              <a:srgbClr val="C69C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286000"/>
            <a:ext cx="274320" cy="0"/>
          </a:xfrm>
          <a:prstGeom prst="line">
            <a:avLst/>
          </a:prstGeom>
          <a:noFill/>
          <a:ln w="31750">
            <a:solidFill>
              <a:srgbClr val="C69C6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423160"/>
            <a:ext cx="320040" cy="320040"/>
          </a:xfrm>
          <a:prstGeom prst="line">
            <a:avLst/>
          </a:prstGeom>
          <a:noFill/>
          <a:ln w="31750">
            <a:solidFill>
              <a:srgbClr val="C69C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2286000"/>
            <a:ext cx="274320" cy="0"/>
          </a:xfrm>
          <a:prstGeom prst="line">
            <a:avLst/>
          </a:prstGeom>
          <a:noFill/>
          <a:ln w="31750">
            <a:solidFill>
              <a:srgbClr val="C69C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2423160"/>
            <a:ext cx="320040" cy="320040"/>
          </a:xfrm>
          <a:prstGeom prst="line">
            <a:avLst/>
          </a:prstGeom>
          <a:noFill/>
          <a:ln w="31750">
            <a:solidFill>
              <a:srgbClr val="C69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6459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МУРАВЬИ: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926080" y="2377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силачи микромира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926080" y="3200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8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насекомые поднимают вес,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D8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десятки раз превышающий собственный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69C6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Удивительный факт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50×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своего веса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способен поднять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муравей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мг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8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вес муравья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3108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 мг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8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поднять муравей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4389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8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Рекорд у некоторых видов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69C6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они такие сильные?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 квадрата-куба Галилея: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МАССА ∝ L³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и масса растут пропорционально кубу линейных размеров.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СИЛА ∝ L²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9260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Сечение мышц растёт пропорционально квадрату линейных размеров.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меньше организм, тем больше сила относительно массы тела. Муравей крошечный — отсюда и сверхсила.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69C6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Если бы человек был муравьём...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Представьте: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65760" cy="365760"/>
          </a:xfrm>
          <a:prstGeom prst="ellipse">
            <a:avLst/>
          </a:prstGeom>
          <a:solidFill>
            <a:srgbClr val="C69C6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286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тонн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0" y="2331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8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поднимал бы человек весом 80 кг (при 50x)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C69C6D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тонн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8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рекордных 100x — это грузовик!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526280"/>
            <a:ext cx="365760" cy="365760"/>
          </a:xfrm>
          <a:prstGeom prst="ellipse">
            <a:avLst/>
          </a:prstGeom>
          <a:solidFill>
            <a:srgbClr val="C69C6D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480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этаж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4526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8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человек-муравей прыгал бы на высоту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120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…но, увы, закон квадрата-куба не позволил бы человеку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такого размера даже стоять на ногах.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69C6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Анатомия силы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Экзоскелет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1907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Наружный скелет из хитина — лёгкий, прочный, эффективный рычаг. Не тратит силы на удержание формы тела.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FFF8E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Мышцы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791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Мышцы крепятся изнутри к экзоскелету. У муравья сотни мышечных пучков, дающих огромную удельную силу.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Мандибулы (челюсти)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63931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Мощные жвалы работают как захват. Некоторые виды смыкают челюсти со скоростью 230 км/ч — быстрее, чем моргает человек.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FFF8E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Шея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59943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Шея муравья-листореза выдерживает нагрузку в 5 000 раз больше собственного веса — абсолютный рекорд в природе.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69C6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Рекорды разных видов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5D403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Муравей-листорез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50×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057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Несёт листья для грибных ферм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5D4037"/>
          </a:solidFill>
          <a:ln/>
        </p:spPr>
      </p:sp>
      <p:sp>
        <p:nvSpPr>
          <p:cNvPr id="9" name="Text 7"/>
          <p:cNvSpPr/>
          <p:nvPr/>
        </p:nvSpPr>
        <p:spPr>
          <a:xfrm>
            <a:off x="52578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Азиатский муравей-портной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5780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100×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09360" y="2057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Тянет листья при строительстве гнёзд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5D403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Медовый муравей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~10×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828800" y="4251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 нектар в раздутом брюшке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34747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5D4037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Красный огненный муравей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5780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20×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09360" y="4251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 плоты из собственных тел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69C6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Чему нас учат муравьи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3152" cy="731520"/>
          </a:xfrm>
          <a:prstGeom prst="rect">
            <a:avLst/>
          </a:prstGeom>
          <a:solidFill>
            <a:srgbClr val="C69C6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 квадрата-куба объясняет, почему маленькие существа относительно сильнее.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73152" cy="731520"/>
          </a:xfrm>
          <a:prstGeom prst="rect">
            <a:avLst/>
          </a:prstGeom>
          <a:solidFill>
            <a:srgbClr val="C69C6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060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Муравьи — инженерное чудо: экзоскелет, распределение нагрузки, эффективные мышцы.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73152" cy="731520"/>
          </a:xfrm>
          <a:prstGeom prst="rect">
            <a:avLst/>
          </a:prstGeom>
          <a:solidFill>
            <a:srgbClr val="C69C6D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5661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принципы вдохновляют робототехнику: микророботы, грузовые дроны, экзоскелеты.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526280"/>
            <a:ext cx="73152" cy="731520"/>
          </a:xfrm>
          <a:prstGeom prst="rect">
            <a:avLst/>
          </a:prstGeom>
          <a:solidFill>
            <a:srgbClr val="C69C6D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5262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Природа — главный инженер: миллионы лет эволюции создали идеальные механизмы.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Муравьи: силачи микромира</dc:title>
  <dc:subject>PptxGenJS Presentation</dc:subject>
  <dc:creator>OpenCode</dc:creator>
  <cp:lastModifiedBy>OpenCode</cp:lastModifiedBy>
  <cp:revision>1</cp:revision>
  <dcterms:created xsi:type="dcterms:W3CDTF">2026-06-09T19:04:14Z</dcterms:created>
  <dcterms:modified xsi:type="dcterms:W3CDTF">2026-06-09T19:04:14Z</dcterms:modified>
</cp:coreProperties>
</file>